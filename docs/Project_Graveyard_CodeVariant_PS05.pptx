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3b046d4-6076-af5b-296e-b60f39d66f9a}">
          <p14:sldIdLst>
            <p14:sldId id="256"/>
          </p14:sldIdLst>
        </p14:section>
        <p14:section name="Problem" id="{467ed487-34eb-f2ec-d253-3d727b9515ef}">
          <p14:sldIdLst>
            <p14:sldId id="257"/>
          </p14:sldIdLst>
        </p14:section>
        <p14:section name="Solution" id="{4890b854-d1a5-a379-fd10-cd6a3db40214}">
          <p14:sldIdLst>
            <p14:sldId id="258"/>
          </p14:sldIdLst>
        </p14:section>
        <p14:section name="Users" id="{fd450109-0cda-ab26-b488-dd7f46af4285}">
          <p14:sldIdLst>
            <p14:sldId id="259"/>
          </p14:sldIdLst>
        </p14:section>
        <p14:section name="Features" id="{42184179-8115-d552-937e-a1a949006454}">
          <p14:sldIdLst>
            <p14:sldId id="260"/>
            <p14:sldId id="261"/>
          </p14:sldIdLst>
        </p14:section>
        <p14:section name="Flow &amp; UX" id="{228f2f5b-fa9b-0aa0-1c26-b80079e5a0c7}">
          <p14:sldIdLst>
            <p14:sldId id="262"/>
            <p14:sldId id="263"/>
          </p14:sldIdLst>
        </p14:section>
        <p14:section name="Build" id="{324b82f9-6a8a-0ce9-78bc-e81912ba7572}">
          <p14:sldIdLst>
            <p14:sldId id="264"/>
            <p14:sldId id="265"/>
          </p14:sldIdLst>
        </p14:section>
        <p14:section name="Close" id="{f188af0c-cbef-ebc2-c3a2-d288f542e06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269748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6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The Project Graveyard · Code Variant Build 01 · PS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ombst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858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Graveyard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2697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Unfinished isn’t failed. A place to lay old projects to rest, understand why they stopped, and decide whether they deserve a second life.</a:t>
            </a:r>
            <a:endParaRPr lang="en-US" sz="1800" dirty="0"/>
          </a:p>
        </p:txBody>
      </p:sp>
      <p:sp>
        <p:nvSpPr>
          <p:cNvPr id="5" name="Event line"/>
          <p:cNvSpPr txBox="1"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Code Variant — Build 01  ·  Round 1 Idea Submission  ·  </a:t>
            </a:r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Problem Statement 05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Rajnish Kumar Verma (solo)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Unfinished projects don’t die, they get forgotten</a:t>
            </a:r>
            <a:endParaRPr lang="en-US" sz="3000" dirty="0"/>
          </a:p>
        </p:txBody>
      </p:sp>
      <p:sp>
        <p:nvSpPr>
          <p:cNvPr id="3" name="Insight icon bg 1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nsigh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5" name="Insight head 1"/>
          <p:cNvSpPr txBox="1"/>
          <p:nvPr/>
        </p:nvSpPr>
        <p:spPr>
          <a:xfrm>
            <a:off x="128016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Context decays</a:t>
            </a:r>
            <a:endParaRPr lang="en-US" sz="1700" dirty="0"/>
          </a:p>
        </p:txBody>
      </p:sp>
      <p:sp>
        <p:nvSpPr>
          <p:cNvPr id="6" name="Insight body 1"/>
          <p:cNvSpPr txBox="1"/>
          <p:nvPr/>
        </p:nvSpPr>
        <p:spPr>
          <a:xfrm>
            <a:off x="1280160" y="1536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Months later you can’t remember what was done, what was left, or why you stopped.</a:t>
            </a:r>
            <a:endParaRPr lang="en-US" sz="1400" dirty="0"/>
          </a:p>
        </p:txBody>
      </p:sp>
      <p:sp>
        <p:nvSpPr>
          <p:cNvPr id="7" name="Insight icon bg 2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nsigh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68880"/>
            <a:ext cx="365760" cy="365760"/>
          </a:xfrm>
          <a:prstGeom prst="rect">
            <a:avLst/>
          </a:prstGeom>
        </p:spPr>
      </p:pic>
      <p:sp>
        <p:nvSpPr>
          <p:cNvPr id="9" name="Insight head 2"/>
          <p:cNvSpPr txBox="1"/>
          <p:nvPr/>
        </p:nvSpPr>
        <p:spPr>
          <a:xfrm>
            <a:off x="128016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No honest post-mortem</a:t>
            </a:r>
            <a:endParaRPr lang="en-US" sz="1700" dirty="0"/>
          </a:p>
        </p:txBody>
      </p:sp>
      <p:sp>
        <p:nvSpPr>
          <p:cNvPr id="10" name="Insight body 2"/>
          <p:cNvSpPr txBox="1"/>
          <p:nvPr/>
        </p:nvSpPr>
        <p:spPr>
          <a:xfrm>
            <a:off x="1280160" y="2633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Projects stall for very different reasons (time, scope, a blocker, lost interest), but nobody records which one.</a:t>
            </a:r>
            <a:endParaRPr lang="en-US" sz="1400" dirty="0"/>
          </a:p>
        </p:txBody>
      </p:sp>
      <p:sp>
        <p:nvSpPr>
          <p:cNvPr id="11" name="Insight icon bg 3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nsigh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66160"/>
            <a:ext cx="365760" cy="365760"/>
          </a:xfrm>
          <a:prstGeom prst="rect">
            <a:avLst/>
          </a:prstGeom>
        </p:spPr>
      </p:pic>
      <p:sp>
        <p:nvSpPr>
          <p:cNvPr id="13" name="Insight head 3"/>
          <p:cNvSpPr txBox="1"/>
          <p:nvPr/>
        </p:nvSpPr>
        <p:spPr>
          <a:xfrm>
            <a:off x="1280160" y="3410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Only two choices today</a:t>
            </a:r>
            <a:endParaRPr lang="en-US" sz="1700" dirty="0"/>
          </a:p>
        </p:txBody>
      </p:sp>
      <p:sp>
        <p:nvSpPr>
          <p:cNvPr id="14" name="Insight body 3"/>
          <p:cNvSpPr txBox="1"/>
          <p:nvPr/>
        </p:nvSpPr>
        <p:spPr>
          <a:xfrm>
            <a:off x="1280160" y="37307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“Ignore it” or “delete it”. Restarting, pivoting or salvaging parts is never seriously considered.</a:t>
            </a:r>
            <a:endParaRPr lang="en-US" sz="1400" dirty="0"/>
          </a:p>
        </p:txBody>
      </p:sp>
      <p:sp>
        <p:nvSpPr>
          <p:cNvPr id="15" name="Key insight card"/>
          <p:cNvSpPr/>
          <p:nvPr/>
        </p:nvSpPr>
        <p:spPr>
          <a:xfrm>
            <a:off x="5257800" y="1234440"/>
            <a:ext cx="3429000" cy="315468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ard label"/>
          <p:cNvSpPr txBox="1"/>
          <p:nvPr/>
        </p:nvSpPr>
        <p:spPr>
          <a:xfrm>
            <a:off x="55321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Our reading of the problem</a:t>
            </a:r>
            <a:endParaRPr lang="en-US" sz="1300" dirty="0"/>
          </a:p>
        </p:txBody>
      </p:sp>
      <p:sp>
        <p:nvSpPr>
          <p:cNvPr id="17" name="Card text"/>
          <p:cNvSpPr txBox="1"/>
          <p:nvPr/>
        </p:nvSpPr>
        <p:spPr>
          <a:xfrm>
            <a:off x="5532120" y="18745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Storage isn’t the problem. GitHub already keeps the code.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missing piece is a decision: </a:t>
            </a:r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what is this project worth now, and what should I do with it?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Bury it properly, then decide its fate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ep badge 1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head 1"/>
          <p:cNvSpPr txBox="1"/>
          <p:nvPr/>
        </p:nvSpPr>
        <p:spPr>
          <a:xfrm>
            <a:off x="68580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The Tombstone</a:t>
            </a:r>
            <a:endParaRPr lang="en-US" sz="1800" dirty="0"/>
          </a:p>
        </p:txBody>
      </p:sp>
      <p:sp>
        <p:nvSpPr>
          <p:cNvPr id="7" name="Step body 1"/>
          <p:cNvSpPr txBox="1"/>
          <p:nvPr/>
        </p:nvSpPr>
        <p:spPr>
          <a:xfrm>
            <a:off x="68580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Record what the project was, what you wanted to build, what got done and what didn’t.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29184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ep badge 2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0" name="Step num 2"/>
          <p:cNvSpPr txBox="1"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head 2"/>
          <p:cNvSpPr txBox="1"/>
          <p:nvPr/>
        </p:nvSpPr>
        <p:spPr>
          <a:xfrm>
            <a:off x="352044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The Autopsy</a:t>
            </a:r>
            <a:endParaRPr lang="en-US" sz="1800" dirty="0"/>
          </a:p>
        </p:txBody>
      </p:sp>
      <p:sp>
        <p:nvSpPr>
          <p:cNvPr id="12" name="Step body 2"/>
          <p:cNvSpPr txBox="1"/>
          <p:nvPr/>
        </p:nvSpPr>
        <p:spPr>
          <a:xfrm>
            <a:off x="352044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Tag why it stopped (time, scope creep, tech blocker, lost interest, no users) plus a short note.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126480" y="123444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ep badge 3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rgbClr val="D88A8A"/>
          </a:solidFill>
          <a:ln w="12700">
            <a:solidFill>
              <a:srgbClr val="D88A8A"/>
            </a:solidFill>
            <a:prstDash val="solid"/>
          </a:ln>
        </p:spPr>
      </p:sp>
      <p:sp>
        <p:nvSpPr>
          <p:cNvPr id="15" name="Step num 3"/>
          <p:cNvSpPr txBox="1"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head 3"/>
          <p:cNvSpPr txBox="1"/>
          <p:nvPr/>
        </p:nvSpPr>
        <p:spPr>
          <a:xfrm>
            <a:off x="635508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The Revival Path</a:t>
            </a:r>
            <a:endParaRPr lang="en-US" sz="1800" dirty="0"/>
          </a:p>
        </p:txBody>
      </p:sp>
      <p:sp>
        <p:nvSpPr>
          <p:cNvPr id="17" name="Step body 3"/>
          <p:cNvSpPr txBox="1"/>
          <p:nvPr/>
        </p:nvSpPr>
        <p:spPr>
          <a:xfrm>
            <a:off x="6355080" y="2560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transparent advisor ranks Restart · Continue · Change · Repurpose · Archive, with the reason for each.</a:t>
            </a:r>
            <a:endParaRPr lang="en-US" sz="1400" dirty="0"/>
          </a:p>
        </p:txBody>
      </p:sp>
      <p:sp>
        <p:nvSpPr>
          <p:cNvPr id="18" name="Positioning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 another project-management app.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tasks, sprints or boards. Just a memory for every idea and a clear, explained decision about what happens next.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who start more than they finish</a:t>
            </a:r>
            <a:endParaRPr lang="en-US" sz="3000" dirty="0"/>
          </a:p>
        </p:txBody>
      </p:sp>
      <p:sp>
        <p:nvSpPr>
          <p:cNvPr id="3" name="User card 1"/>
          <p:cNvSpPr/>
          <p:nvPr/>
        </p:nvSpPr>
        <p:spPr>
          <a:xfrm>
            <a:off x="457200" y="123444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User icon bg 1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pic>
        <p:nvPicPr>
          <p:cNvPr id="5" name="Use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11480" cy="411480"/>
          </a:xfrm>
          <a:prstGeom prst="rect">
            <a:avLst/>
          </a:prstGeom>
        </p:spPr>
      </p:pic>
      <p:sp>
        <p:nvSpPr>
          <p:cNvPr id="6" name="User head 1"/>
          <p:cNvSpPr txBox="1"/>
          <p:nvPr/>
        </p:nvSpPr>
        <p:spPr>
          <a:xfrm>
            <a:off x="685800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Students &amp; hackathon builders</a:t>
            </a:r>
            <a:endParaRPr lang="en-US" sz="1600" dirty="0"/>
          </a:p>
        </p:txBody>
      </p:sp>
      <p:sp>
        <p:nvSpPr>
          <p:cNvPr id="7" name="User body 1"/>
          <p:cNvSpPr txBox="1"/>
          <p:nvPr/>
        </p:nvSpPr>
        <p:spPr>
          <a:xfrm>
            <a:off x="685800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Leave every hackathon with a half-built demo that never gets opened again.</a:t>
            </a:r>
            <a:endParaRPr lang="en-US" sz="1400" dirty="0"/>
          </a:p>
        </p:txBody>
      </p:sp>
      <p:sp>
        <p:nvSpPr>
          <p:cNvPr id="8" name="User quote 1"/>
          <p:cNvSpPr txBox="1"/>
          <p:nvPr/>
        </p:nvSpPr>
        <p:spPr>
          <a:xfrm>
            <a:off x="685800" y="3794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“Was my hackathon idea actually good?”</a:t>
            </a:r>
            <a:endParaRPr lang="en-US" sz="1300" dirty="0"/>
          </a:p>
        </p:txBody>
      </p:sp>
      <p:sp>
        <p:nvSpPr>
          <p:cNvPr id="9" name="User card 2"/>
          <p:cNvSpPr/>
          <p:nvPr/>
        </p:nvSpPr>
        <p:spPr>
          <a:xfrm>
            <a:off x="3291840" y="123444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User icon bg 2"/>
          <p:cNvSpPr/>
          <p:nvPr/>
        </p:nvSpPr>
        <p:spPr>
          <a:xfrm>
            <a:off x="3520440" y="1463040"/>
            <a:ext cx="685800" cy="68580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pic>
        <p:nvPicPr>
          <p:cNvPr id="11" name="Use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00200"/>
            <a:ext cx="411480" cy="411480"/>
          </a:xfrm>
          <a:prstGeom prst="rect">
            <a:avLst/>
          </a:prstGeom>
        </p:spPr>
      </p:pic>
      <p:sp>
        <p:nvSpPr>
          <p:cNvPr id="12" name="User head 2"/>
          <p:cNvSpPr txBox="1"/>
          <p:nvPr/>
        </p:nvSpPr>
        <p:spPr>
          <a:xfrm>
            <a:off x="3520440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Working developers</a:t>
            </a:r>
            <a:endParaRPr lang="en-US" sz="1600" dirty="0"/>
          </a:p>
        </p:txBody>
      </p:sp>
      <p:sp>
        <p:nvSpPr>
          <p:cNvPr id="13" name="User body 2"/>
          <p:cNvSpPr txBox="1"/>
          <p:nvPr/>
        </p:nvSpPr>
        <p:spPr>
          <a:xfrm>
            <a:off x="3520440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Side projects lose to the day job. They need to know which one deserves weekend time.</a:t>
            </a:r>
            <a:endParaRPr lang="en-US" sz="1400" dirty="0"/>
          </a:p>
        </p:txBody>
      </p:sp>
      <p:sp>
        <p:nvSpPr>
          <p:cNvPr id="14" name="User quote 2"/>
          <p:cNvSpPr txBox="1"/>
          <p:nvPr/>
        </p:nvSpPr>
        <p:spPr>
          <a:xfrm>
            <a:off x="3520440" y="3794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“Which project is worth my Saturday?”</a:t>
            </a:r>
            <a:endParaRPr lang="en-US" sz="1300" dirty="0"/>
          </a:p>
        </p:txBody>
      </p:sp>
      <p:sp>
        <p:nvSpPr>
          <p:cNvPr id="15" name="User card 3"/>
          <p:cNvSpPr/>
          <p:nvPr/>
        </p:nvSpPr>
        <p:spPr>
          <a:xfrm>
            <a:off x="6126480" y="123444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User icon bg 3"/>
          <p:cNvSpPr/>
          <p:nvPr/>
        </p:nvSpPr>
        <p:spPr>
          <a:xfrm>
            <a:off x="6355080" y="1463040"/>
            <a:ext cx="685800" cy="685800"/>
          </a:xfrm>
          <a:prstGeom prst="ellipse">
            <a:avLst/>
          </a:prstGeom>
          <a:solidFill>
            <a:srgbClr val="D88A8A"/>
          </a:solidFill>
          <a:ln w="12700">
            <a:solidFill>
              <a:srgbClr val="D88A8A"/>
            </a:solidFill>
            <a:prstDash val="solid"/>
          </a:ln>
        </p:spPr>
      </p:sp>
      <p:pic>
        <p:nvPicPr>
          <p:cNvPr id="17" name="Use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411480" cy="411480"/>
          </a:xfrm>
          <a:prstGeom prst="rect">
            <a:avLst/>
          </a:prstGeom>
        </p:spPr>
      </p:pic>
      <p:sp>
        <p:nvSpPr>
          <p:cNvPr id="18" name="User head 3"/>
          <p:cNvSpPr txBox="1"/>
          <p:nvPr/>
        </p:nvSpPr>
        <p:spPr>
          <a:xfrm>
            <a:off x="6355080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Indie hackers &amp; makers</a:t>
            </a:r>
            <a:endParaRPr lang="en-US" sz="1600" dirty="0"/>
          </a:p>
        </p:txBody>
      </p:sp>
      <p:sp>
        <p:nvSpPr>
          <p:cNvPr id="19" name="User body 3"/>
          <p:cNvSpPr txBox="1"/>
          <p:nvPr/>
        </p:nvSpPr>
        <p:spPr>
          <a:xfrm>
            <a:off x="6355080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Juggle many ideas at once and need to kill, pivot or relaunch on purpose.</a:t>
            </a:r>
            <a:endParaRPr lang="en-US" sz="1400" dirty="0"/>
          </a:p>
        </p:txBody>
      </p:sp>
      <p:sp>
        <p:nvSpPr>
          <p:cNvPr id="20" name="User quote 3"/>
          <p:cNvSpPr txBox="1"/>
          <p:nvPr/>
        </p:nvSpPr>
        <p:spPr>
          <a:xfrm>
            <a:off x="6355080" y="3794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“Should I pivot this or let it go?”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Featur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5" name="Feature head 1"/>
          <p:cNvSpPr txBox="1"/>
          <p:nvPr/>
        </p:nvSpPr>
        <p:spPr>
          <a:xfrm>
            <a:off x="1051560" y="12984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Project Archive</a:t>
            </a:r>
            <a:endParaRPr lang="en-US" sz="1400" dirty="0"/>
          </a:p>
        </p:txBody>
      </p:sp>
      <p:sp>
        <p:nvSpPr>
          <p:cNvPr id="6" name="Feature body 1"/>
          <p:cNvSpPr txBox="1"/>
          <p:nvPr/>
        </p:nvSpPr>
        <p:spPr>
          <a:xfrm>
            <a:off x="640080" y="17647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Every project as a tombstone showing its current status, with search and filters.</a:t>
            </a:r>
            <a:endParaRPr lang="en-US" sz="1200" dirty="0"/>
          </a:p>
        </p:txBody>
      </p:sp>
      <p:sp>
        <p:nvSpPr>
          <p:cNvPr id="7" name="Feature card 2"/>
          <p:cNvSpPr/>
          <p:nvPr/>
        </p:nvSpPr>
        <p:spPr>
          <a:xfrm>
            <a:off x="2560320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Featur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25880"/>
            <a:ext cx="320040" cy="320040"/>
          </a:xfrm>
          <a:prstGeom prst="rect">
            <a:avLst/>
          </a:prstGeom>
        </p:spPr>
      </p:pic>
      <p:sp>
        <p:nvSpPr>
          <p:cNvPr id="9" name="Feature head 2"/>
          <p:cNvSpPr txBox="1"/>
          <p:nvPr/>
        </p:nvSpPr>
        <p:spPr>
          <a:xfrm>
            <a:off x="3154680" y="12984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Project Profile</a:t>
            </a:r>
            <a:endParaRPr lang="en-US" sz="1400" dirty="0"/>
          </a:p>
        </p:txBody>
      </p:sp>
      <p:sp>
        <p:nvSpPr>
          <p:cNvPr id="10" name="Feature body 2"/>
          <p:cNvSpPr txBox="1"/>
          <p:nvPr/>
        </p:nvSpPr>
        <p:spPr>
          <a:xfrm>
            <a:off x="2743200" y="17647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What it was, the goal, what’s done and unfinished, plus its full history.</a:t>
            </a:r>
            <a:endParaRPr lang="en-US" sz="1200" dirty="0"/>
          </a:p>
        </p:txBody>
      </p:sp>
      <p:sp>
        <p:nvSpPr>
          <p:cNvPr id="11" name="Feature card 3"/>
          <p:cNvSpPr/>
          <p:nvPr/>
        </p:nvSpPr>
        <p:spPr>
          <a:xfrm>
            <a:off x="4663440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Featur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20040" cy="320040"/>
          </a:xfrm>
          <a:prstGeom prst="rect">
            <a:avLst/>
          </a:prstGeom>
        </p:spPr>
      </p:pic>
      <p:sp>
        <p:nvSpPr>
          <p:cNvPr id="13" name="Feature head 3"/>
          <p:cNvSpPr txBox="1"/>
          <p:nvPr/>
        </p:nvSpPr>
        <p:spPr>
          <a:xfrm>
            <a:off x="5257800" y="12984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The Autopsy</a:t>
            </a:r>
            <a:endParaRPr lang="en-US" sz="1400" dirty="0"/>
          </a:p>
        </p:txBody>
      </p:sp>
      <p:sp>
        <p:nvSpPr>
          <p:cNvPr id="14" name="Feature body 3"/>
          <p:cNvSpPr txBox="1"/>
          <p:nvPr/>
        </p:nvSpPr>
        <p:spPr>
          <a:xfrm>
            <a:off x="4846320" y="17647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Tagged reason for abandonment plus a short note.</a:t>
            </a:r>
            <a:endParaRPr lang="en-US" sz="1200" dirty="0"/>
          </a:p>
        </p:txBody>
      </p:sp>
      <p:sp>
        <p:nvSpPr>
          <p:cNvPr id="15" name="Feature card 4"/>
          <p:cNvSpPr/>
          <p:nvPr/>
        </p:nvSpPr>
        <p:spPr>
          <a:xfrm>
            <a:off x="6766560" y="11430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Featur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320040" cy="320040"/>
          </a:xfrm>
          <a:prstGeom prst="rect">
            <a:avLst/>
          </a:prstGeom>
        </p:spPr>
      </p:pic>
      <p:sp>
        <p:nvSpPr>
          <p:cNvPr id="17" name="Feature head 4"/>
          <p:cNvSpPr txBox="1"/>
          <p:nvPr/>
        </p:nvSpPr>
        <p:spPr>
          <a:xfrm>
            <a:off x="7360920" y="12984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Revival Advisor</a:t>
            </a:r>
            <a:endParaRPr lang="en-US" sz="1400" dirty="0"/>
          </a:p>
        </p:txBody>
      </p:sp>
      <p:sp>
        <p:nvSpPr>
          <p:cNvPr id="18" name="Feature body 4"/>
          <p:cNvSpPr txBox="1"/>
          <p:nvPr/>
        </p:nvSpPr>
        <p:spPr>
          <a:xfrm>
            <a:off x="6949440" y="17647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Five ranked revival paths, each with its “why”.</a:t>
            </a:r>
            <a:endParaRPr lang="en-US" sz="1200" dirty="0"/>
          </a:p>
        </p:txBody>
      </p:sp>
      <p:sp>
        <p:nvSpPr>
          <p:cNvPr id="19" name="Feature card 5"/>
          <p:cNvSpPr/>
          <p:nvPr/>
        </p:nvSpPr>
        <p:spPr>
          <a:xfrm>
            <a:off x="457200" y="2770632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Feature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53512"/>
            <a:ext cx="320040" cy="320040"/>
          </a:xfrm>
          <a:prstGeom prst="rect">
            <a:avLst/>
          </a:prstGeom>
        </p:spPr>
      </p:pic>
      <p:sp>
        <p:nvSpPr>
          <p:cNvPr id="21" name="Feature head 5"/>
          <p:cNvSpPr txBox="1"/>
          <p:nvPr/>
        </p:nvSpPr>
        <p:spPr>
          <a:xfrm>
            <a:off x="105156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Project Timeline</a:t>
            </a:r>
            <a:endParaRPr lang="en-US" sz="1400" dirty="0"/>
          </a:p>
        </p:txBody>
      </p:sp>
      <p:sp>
        <p:nvSpPr>
          <p:cNvPr id="22" name="Feature body 5"/>
          <p:cNvSpPr txBox="1"/>
          <p:nvPr/>
        </p:nvSpPr>
        <p:spPr>
          <a:xfrm>
            <a:off x="640080" y="339242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Started → milestones → abandoned → revisited.</a:t>
            </a:r>
            <a:endParaRPr lang="en-US" sz="1200" dirty="0"/>
          </a:p>
        </p:txBody>
      </p:sp>
      <p:sp>
        <p:nvSpPr>
          <p:cNvPr id="23" name="Feature card 6"/>
          <p:cNvSpPr/>
          <p:nvPr/>
        </p:nvSpPr>
        <p:spPr>
          <a:xfrm>
            <a:off x="2560320" y="2770632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Feature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953512"/>
            <a:ext cx="320040" cy="320040"/>
          </a:xfrm>
          <a:prstGeom prst="rect">
            <a:avLst/>
          </a:prstGeom>
        </p:spPr>
      </p:pic>
      <p:sp>
        <p:nvSpPr>
          <p:cNvPr id="25" name="Feature head 6"/>
          <p:cNvSpPr txBox="1"/>
          <p:nvPr/>
        </p:nvSpPr>
        <p:spPr>
          <a:xfrm>
            <a:off x="315468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Haunt Me Later</a:t>
            </a:r>
            <a:endParaRPr lang="en-US" sz="1400" dirty="0"/>
          </a:p>
        </p:txBody>
      </p:sp>
      <p:sp>
        <p:nvSpPr>
          <p:cNvPr id="26" name="Feature body 6"/>
          <p:cNvSpPr txBox="1"/>
          <p:nvPr/>
        </p:nvSpPr>
        <p:spPr>
          <a:xfrm>
            <a:off x="2743200" y="339242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Set a revisit reminder: “haunt me in 30 days”.</a:t>
            </a:r>
            <a:endParaRPr lang="en-US" sz="1200" dirty="0"/>
          </a:p>
        </p:txBody>
      </p:sp>
      <p:sp>
        <p:nvSpPr>
          <p:cNvPr id="27" name="Feature card 7"/>
          <p:cNvSpPr/>
          <p:nvPr/>
        </p:nvSpPr>
        <p:spPr>
          <a:xfrm>
            <a:off x="4663440" y="2770632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8" name="Feature icon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953512"/>
            <a:ext cx="320040" cy="320040"/>
          </a:xfrm>
          <a:prstGeom prst="rect">
            <a:avLst/>
          </a:prstGeom>
        </p:spPr>
      </p:pic>
      <p:sp>
        <p:nvSpPr>
          <p:cNvPr id="29" name="Feature head 7"/>
          <p:cNvSpPr txBox="1"/>
          <p:nvPr/>
        </p:nvSpPr>
        <p:spPr>
          <a:xfrm>
            <a:off x="525780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GitHub Import</a:t>
            </a:r>
            <a:endParaRPr lang="en-US" sz="1400" dirty="0"/>
          </a:p>
        </p:txBody>
      </p:sp>
      <p:sp>
        <p:nvSpPr>
          <p:cNvPr id="30" name="Feature body 7"/>
          <p:cNvSpPr txBox="1"/>
          <p:nvPr/>
        </p:nvSpPr>
        <p:spPr>
          <a:xfrm>
            <a:off x="4846320" y="339242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Paste a public repo URL to auto-fill stack, last commit and README.</a:t>
            </a:r>
            <a:endParaRPr lang="en-US" sz="1200" dirty="0"/>
          </a:p>
        </p:txBody>
      </p:sp>
      <p:sp>
        <p:nvSpPr>
          <p:cNvPr id="31" name="Feature card 8"/>
          <p:cNvSpPr/>
          <p:nvPr/>
        </p:nvSpPr>
        <p:spPr>
          <a:xfrm>
            <a:off x="6766560" y="2770632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2" name="Feature icon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953512"/>
            <a:ext cx="320040" cy="320040"/>
          </a:xfrm>
          <a:prstGeom prst="rect">
            <a:avLst/>
          </a:prstGeom>
        </p:spPr>
      </p:pic>
      <p:sp>
        <p:nvSpPr>
          <p:cNvPr id="33" name="Feature head 8"/>
          <p:cNvSpPr txBox="1"/>
          <p:nvPr/>
        </p:nvSpPr>
        <p:spPr>
          <a:xfrm>
            <a:off x="736092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Salvage Yard</a:t>
            </a:r>
            <a:endParaRPr lang="en-US" sz="1400" dirty="0"/>
          </a:p>
        </p:txBody>
      </p:sp>
      <p:sp>
        <p:nvSpPr>
          <p:cNvPr id="34" name="Feature body 8"/>
          <p:cNvSpPr txBox="1"/>
          <p:nvPr/>
        </p:nvSpPr>
        <p:spPr>
          <a:xfrm>
            <a:off x="6949440" y="339242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Mark reusable parts: components, learnings, assets.</a:t>
            </a:r>
            <a:endParaRPr lang="en-US" sz="1200" dirty="0"/>
          </a:p>
        </p:txBody>
      </p:sp>
      <p:sp>
        <p:nvSpPr>
          <p:cNvPr id="35" name="Status label"/>
          <p:cNvSpPr txBox="1"/>
          <p:nvPr/>
        </p:nvSpPr>
        <p:spPr>
          <a:xfrm>
            <a:off x="457200" y="4462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Current status:</a:t>
            </a:r>
            <a:endParaRPr lang="en-US" sz="1100" dirty="0"/>
          </a:p>
        </p:txBody>
      </p:sp>
      <p:sp>
        <p:nvSpPr>
          <p:cNvPr id="36" name="Status dot 1"/>
          <p:cNvSpPr/>
          <p:nvPr/>
        </p:nvSpPr>
        <p:spPr>
          <a:xfrm>
            <a:off x="1600200" y="4517136"/>
            <a:ext cx="128016" cy="128016"/>
          </a:xfrm>
          <a:prstGeom prst="ellips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37" name="Status name 1"/>
          <p:cNvSpPr txBox="1"/>
          <p:nvPr/>
        </p:nvSpPr>
        <p:spPr>
          <a:xfrm>
            <a:off x="178308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Resting</a:t>
            </a:r>
            <a:endParaRPr lang="en-US" sz="1100" dirty="0"/>
          </a:p>
        </p:txBody>
      </p:sp>
      <p:sp>
        <p:nvSpPr>
          <p:cNvPr id="38" name="Status dot 2"/>
          <p:cNvSpPr/>
          <p:nvPr/>
        </p:nvSpPr>
        <p:spPr>
          <a:xfrm>
            <a:off x="2651760" y="4517136"/>
            <a:ext cx="128016" cy="128016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9" name="Status name 2"/>
          <p:cNvSpPr txBox="1"/>
          <p:nvPr/>
        </p:nvSpPr>
        <p:spPr>
          <a:xfrm>
            <a:off x="283464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Haunting</a:t>
            </a:r>
            <a:endParaRPr lang="en-US" sz="1100" dirty="0"/>
          </a:p>
        </p:txBody>
      </p:sp>
      <p:sp>
        <p:nvSpPr>
          <p:cNvPr id="40" name="Status dot 3"/>
          <p:cNvSpPr/>
          <p:nvPr/>
        </p:nvSpPr>
        <p:spPr>
          <a:xfrm>
            <a:off x="3703320" y="4517136"/>
            <a:ext cx="128016" cy="128016"/>
          </a:xfrm>
          <a:prstGeom prst="ellipse">
            <a:avLst/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41" name="Status name 3"/>
          <p:cNvSpPr txBox="1"/>
          <p:nvPr/>
        </p:nvSpPr>
        <p:spPr>
          <a:xfrm>
            <a:off x="388620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Revived</a:t>
            </a:r>
            <a:endParaRPr lang="en-US" sz="1100" dirty="0"/>
          </a:p>
        </p:txBody>
      </p:sp>
      <p:sp>
        <p:nvSpPr>
          <p:cNvPr id="42" name="Status dot 4"/>
          <p:cNvSpPr/>
          <p:nvPr/>
        </p:nvSpPr>
        <p:spPr>
          <a:xfrm>
            <a:off x="4754880" y="4517136"/>
            <a:ext cx="128016" cy="128016"/>
          </a:xfrm>
          <a:prstGeom prst="ellipse">
            <a:avLst/>
          </a:prstGeom>
          <a:solidFill>
            <a:srgbClr val="D88A8A"/>
          </a:solidFill>
          <a:ln w="12700">
            <a:solidFill>
              <a:srgbClr val="D88A8A"/>
            </a:solidFill>
            <a:prstDash val="solid"/>
          </a:ln>
        </p:spPr>
      </p:sp>
      <p:sp>
        <p:nvSpPr>
          <p:cNvPr id="43" name="Status name 4"/>
          <p:cNvSpPr txBox="1"/>
          <p:nvPr/>
        </p:nvSpPr>
        <p:spPr>
          <a:xfrm>
            <a:off x="4937760" y="4462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R.I.P.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Revival Advisor explains its reasoning</a:t>
            </a:r>
            <a:endParaRPr lang="en-US" sz="3000" dirty="0"/>
          </a:p>
        </p:txBody>
      </p:sp>
      <p:sp>
        <p:nvSpPr>
          <p:cNvPr id="3" name="Inputs card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puts head"/>
          <p:cNvSpPr txBox="1"/>
          <p:nvPr/>
        </p:nvSpPr>
        <p:spPr>
          <a:xfrm>
            <a:off x="6858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What it looks at</a:t>
            </a:r>
            <a:endParaRPr lang="en-US" sz="1500" dirty="0"/>
          </a:p>
        </p:txBody>
      </p:sp>
      <p:sp>
        <p:nvSpPr>
          <p:cNvPr id="5" name="Inputs list"/>
          <p:cNvSpPr txBox="1"/>
          <p:nvPr/>
        </p:nvSpPr>
        <p:spPr>
          <a:xfrm>
            <a:off x="685800" y="17830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How complete it is (%)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Cause of “death”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Time since last touched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Your interest today (1–5)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Is the idea still relevant?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Salvageable parts</a:t>
            </a:r>
            <a:endParaRPr lang="en-US" sz="1400" dirty="0"/>
          </a:p>
        </p:txBody>
      </p:sp>
      <p:sp>
        <p:nvSpPr>
          <p:cNvPr id="6" name="Path row 0"/>
          <p:cNvSpPr/>
          <p:nvPr/>
        </p:nvSpPr>
        <p:spPr>
          <a:xfrm>
            <a:off x="3474720" y="1188720"/>
            <a:ext cx="5212080" cy="45720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Path name 0"/>
          <p:cNvSpPr txBox="1"/>
          <p:nvPr/>
        </p:nvSpPr>
        <p:spPr>
          <a:xfrm>
            <a:off x="3584448" y="1188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Path</a:t>
            </a:r>
            <a:endParaRPr lang="en-US" sz="1300" dirty="0"/>
          </a:p>
        </p:txBody>
      </p:sp>
      <p:sp>
        <p:nvSpPr>
          <p:cNvPr id="8" name="Path when 0"/>
          <p:cNvSpPr txBox="1"/>
          <p:nvPr/>
        </p:nvSpPr>
        <p:spPr>
          <a:xfrm>
            <a:off x="4983480" y="1188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Suggested when…</a:t>
            </a:r>
            <a:endParaRPr lang="en-US" sz="1250" dirty="0"/>
          </a:p>
        </p:txBody>
      </p:sp>
      <p:sp>
        <p:nvSpPr>
          <p:cNvPr id="9" name="Path row 1"/>
          <p:cNvSpPr/>
          <p:nvPr/>
        </p:nvSpPr>
        <p:spPr>
          <a:xfrm>
            <a:off x="3474720" y="1645920"/>
            <a:ext cx="5212080" cy="457200"/>
          </a:xfrm>
          <a:prstGeom prst="rect">
            <a:avLst/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10" name="Path name 1"/>
          <p:cNvSpPr txBox="1"/>
          <p:nvPr/>
        </p:nvSpPr>
        <p:spPr>
          <a:xfrm>
            <a:off x="3584448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Continue</a:t>
            </a:r>
            <a:endParaRPr lang="en-US" sz="1300" dirty="0"/>
          </a:p>
        </p:txBody>
      </p:sp>
      <p:sp>
        <p:nvSpPr>
          <p:cNvPr id="11" name="Path when 1"/>
          <p:cNvSpPr txBox="1"/>
          <p:nvPr/>
        </p:nvSpPr>
        <p:spPr>
          <a:xfrm>
            <a:off x="4983480" y="1645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Mostly done, stopped for lack of time, interest still high</a:t>
            </a:r>
            <a:endParaRPr lang="en-US" sz="1250" dirty="0"/>
          </a:p>
        </p:txBody>
      </p:sp>
      <p:sp>
        <p:nvSpPr>
          <p:cNvPr id="12" name="Path row 2"/>
          <p:cNvSpPr/>
          <p:nvPr/>
        </p:nvSpPr>
        <p:spPr>
          <a:xfrm>
            <a:off x="3474720" y="2103120"/>
            <a:ext cx="5212080" cy="457200"/>
          </a:xfrm>
          <a:prstGeom prst="rect">
            <a:avLst/>
          </a:prstGeom>
          <a:solidFill>
            <a:srgbClr val="1C1F29"/>
          </a:solidFill>
          <a:ln w="12700">
            <a:solidFill>
              <a:srgbClr val="1C1F29"/>
            </a:solidFill>
            <a:prstDash val="solid"/>
          </a:ln>
        </p:spPr>
      </p:sp>
      <p:sp>
        <p:nvSpPr>
          <p:cNvPr id="13" name="Path name 2"/>
          <p:cNvSpPr txBox="1"/>
          <p:nvPr/>
        </p:nvSpPr>
        <p:spPr>
          <a:xfrm>
            <a:off x="3584448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Restart</a:t>
            </a:r>
            <a:endParaRPr lang="en-US" sz="1300" dirty="0"/>
          </a:p>
        </p:txBody>
      </p:sp>
      <p:sp>
        <p:nvSpPr>
          <p:cNvPr id="14" name="Path when 2"/>
          <p:cNvSpPr txBox="1"/>
          <p:nvPr/>
        </p:nvSpPr>
        <p:spPr>
          <a:xfrm>
            <a:off x="498348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Idea still relevant, but scope creep or tech debt killed it</a:t>
            </a:r>
            <a:endParaRPr lang="en-US" sz="1250" dirty="0"/>
          </a:p>
        </p:txBody>
      </p:sp>
      <p:sp>
        <p:nvSpPr>
          <p:cNvPr id="15" name="Path row 3"/>
          <p:cNvSpPr/>
          <p:nvPr/>
        </p:nvSpPr>
        <p:spPr>
          <a:xfrm>
            <a:off x="3474720" y="2560320"/>
            <a:ext cx="5212080" cy="457200"/>
          </a:xfrm>
          <a:prstGeom prst="rect">
            <a:avLst/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16" name="Path name 3"/>
          <p:cNvSpPr txBox="1"/>
          <p:nvPr/>
        </p:nvSpPr>
        <p:spPr>
          <a:xfrm>
            <a:off x="3584448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Change the idea</a:t>
            </a:r>
            <a:endParaRPr lang="en-US" sz="1300" dirty="0"/>
          </a:p>
        </p:txBody>
      </p:sp>
      <p:sp>
        <p:nvSpPr>
          <p:cNvPr id="17" name="Path when 3"/>
          <p:cNvSpPr txBox="1"/>
          <p:nvPr/>
        </p:nvSpPr>
        <p:spPr>
          <a:xfrm>
            <a:off x="4983480" y="25603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Interest is high, but the original idea is no longer relevant</a:t>
            </a:r>
            <a:endParaRPr lang="en-US" sz="1250" dirty="0"/>
          </a:p>
        </p:txBody>
      </p:sp>
      <p:sp>
        <p:nvSpPr>
          <p:cNvPr id="18" name="Path row 4"/>
          <p:cNvSpPr/>
          <p:nvPr/>
        </p:nvSpPr>
        <p:spPr>
          <a:xfrm>
            <a:off x="3474720" y="3017520"/>
            <a:ext cx="5212080" cy="457200"/>
          </a:xfrm>
          <a:prstGeom prst="rect">
            <a:avLst/>
          </a:prstGeom>
          <a:solidFill>
            <a:srgbClr val="1C1F29"/>
          </a:solidFill>
          <a:ln w="12700">
            <a:solidFill>
              <a:srgbClr val="1C1F29"/>
            </a:solidFill>
            <a:prstDash val="solid"/>
          </a:ln>
        </p:spPr>
      </p:sp>
      <p:sp>
        <p:nvSpPr>
          <p:cNvPr id="19" name="Path name 4"/>
          <p:cNvSpPr txBox="1"/>
          <p:nvPr/>
        </p:nvSpPr>
        <p:spPr>
          <a:xfrm>
            <a:off x="3584448" y="3017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Repurpose</a:t>
            </a:r>
            <a:endParaRPr lang="en-US" sz="1300" dirty="0"/>
          </a:p>
        </p:txBody>
      </p:sp>
      <p:sp>
        <p:nvSpPr>
          <p:cNvPr id="20" name="Path when 4"/>
          <p:cNvSpPr txBox="1"/>
          <p:nvPr/>
        </p:nvSpPr>
        <p:spPr>
          <a:xfrm>
            <a:off x="4983480" y="3017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Low interest in the original, but reusable parts exist</a:t>
            </a:r>
            <a:endParaRPr lang="en-US" sz="1250" dirty="0"/>
          </a:p>
        </p:txBody>
      </p:sp>
      <p:sp>
        <p:nvSpPr>
          <p:cNvPr id="21" name="Path row 5"/>
          <p:cNvSpPr/>
          <p:nvPr/>
        </p:nvSpPr>
        <p:spPr>
          <a:xfrm>
            <a:off x="3474720" y="3474720"/>
            <a:ext cx="5212080" cy="457200"/>
          </a:xfrm>
          <a:prstGeom prst="rect">
            <a:avLst/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22" name="Path name 5"/>
          <p:cNvSpPr txBox="1"/>
          <p:nvPr/>
        </p:nvSpPr>
        <p:spPr>
          <a:xfrm>
            <a:off x="3584448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Archive (R.I.P.)</a:t>
            </a:r>
            <a:endParaRPr lang="en-US" sz="1300" dirty="0"/>
          </a:p>
        </p:txBody>
      </p:sp>
      <p:sp>
        <p:nvSpPr>
          <p:cNvPr id="23" name="Path when 5"/>
          <p:cNvSpPr txBox="1"/>
          <p:nvPr/>
        </p:nvSpPr>
        <p:spPr>
          <a:xfrm>
            <a:off x="4983480" y="3474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Low interest and no relevance. Saves an epitaph of lessons learned</a:t>
            </a:r>
            <a:endParaRPr lang="en-US" sz="1250" dirty="0"/>
          </a:p>
        </p:txBody>
      </p:sp>
      <p:sp>
        <p:nvSpPr>
          <p:cNvPr id="24" name="Advisor note"/>
          <p:cNvSpPr txBox="1"/>
          <p:nvPr/>
        </p:nvSpPr>
        <p:spPr>
          <a:xfrm>
            <a:off x="3474720" y="4023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Rule-based and transparent. Every suggestion shows its “why”, and the user always makes the final call.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3000" dirty="0"/>
          </a:p>
        </p:txBody>
      </p:sp>
      <p:sp>
        <p:nvSpPr>
          <p:cNvPr id="3" name="Flow card 1"/>
          <p:cNvSpPr/>
          <p:nvPr/>
        </p:nvSpPr>
        <p:spPr>
          <a:xfrm>
            <a:off x="45720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low num 1"/>
          <p:cNvSpPr txBox="1"/>
          <p:nvPr/>
        </p:nvSpPr>
        <p:spPr>
          <a:xfrm>
            <a:off x="59436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Flow head 1"/>
          <p:cNvSpPr txBox="1"/>
          <p:nvPr/>
        </p:nvSpPr>
        <p:spPr>
          <a:xfrm>
            <a:off x="59436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Bury</a:t>
            </a:r>
            <a:endParaRPr lang="en-US" sz="1500" dirty="0"/>
          </a:p>
        </p:txBody>
      </p:sp>
      <p:sp>
        <p:nvSpPr>
          <p:cNvPr id="6" name="Flow body 1"/>
          <p:cNvSpPr txBox="1"/>
          <p:nvPr/>
        </p:nvSpPr>
        <p:spPr>
          <a:xfrm>
            <a:off x="59436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Add a project or import it from GitHub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 rot="5400000">
            <a:off x="1700784" y="2395728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8" name="Flow card 2"/>
          <p:cNvSpPr/>
          <p:nvPr/>
        </p:nvSpPr>
        <p:spPr>
          <a:xfrm>
            <a:off x="187452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low num 2"/>
          <p:cNvSpPr txBox="1"/>
          <p:nvPr/>
        </p:nvSpPr>
        <p:spPr>
          <a:xfrm>
            <a:off x="201168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Flow head 2"/>
          <p:cNvSpPr txBox="1"/>
          <p:nvPr/>
        </p:nvSpPr>
        <p:spPr>
          <a:xfrm>
            <a:off x="201168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Autopsy</a:t>
            </a:r>
            <a:endParaRPr lang="en-US" sz="1500" dirty="0"/>
          </a:p>
        </p:txBody>
      </p:sp>
      <p:sp>
        <p:nvSpPr>
          <p:cNvPr id="11" name="Flow body 2"/>
          <p:cNvSpPr txBox="1"/>
          <p:nvPr/>
        </p:nvSpPr>
        <p:spPr>
          <a:xfrm>
            <a:off x="201168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Tag why it stopped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 rot="5400000">
            <a:off x="3118104" y="2395728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13" name="Flow card 3"/>
          <p:cNvSpPr/>
          <p:nvPr/>
        </p:nvSpPr>
        <p:spPr>
          <a:xfrm>
            <a:off x="329184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Flow num 3"/>
          <p:cNvSpPr txBox="1"/>
          <p:nvPr/>
        </p:nvSpPr>
        <p:spPr>
          <a:xfrm>
            <a:off x="342900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Flow head 3"/>
          <p:cNvSpPr txBox="1"/>
          <p:nvPr/>
        </p:nvSpPr>
        <p:spPr>
          <a:xfrm>
            <a:off x="342900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Assess</a:t>
            </a:r>
            <a:endParaRPr lang="en-US" sz="1500" dirty="0"/>
          </a:p>
        </p:txBody>
      </p:sp>
      <p:sp>
        <p:nvSpPr>
          <p:cNvPr id="16" name="Flow body 3"/>
          <p:cNvSpPr txBox="1"/>
          <p:nvPr/>
        </p:nvSpPr>
        <p:spPr>
          <a:xfrm>
            <a:off x="342900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Rate interest and relevance today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 rot="5400000">
            <a:off x="4535424" y="2395728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18" name="Flow card 4"/>
          <p:cNvSpPr/>
          <p:nvPr/>
        </p:nvSpPr>
        <p:spPr>
          <a:xfrm>
            <a:off x="470916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low num 4"/>
          <p:cNvSpPr txBox="1"/>
          <p:nvPr/>
        </p:nvSpPr>
        <p:spPr>
          <a:xfrm>
            <a:off x="484632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Flow head 4"/>
          <p:cNvSpPr txBox="1"/>
          <p:nvPr/>
        </p:nvSpPr>
        <p:spPr>
          <a:xfrm>
            <a:off x="484632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Get paths</a:t>
            </a:r>
            <a:endParaRPr lang="en-US" sz="1500" dirty="0"/>
          </a:p>
        </p:txBody>
      </p:sp>
      <p:sp>
        <p:nvSpPr>
          <p:cNvPr id="21" name="Flow body 4"/>
          <p:cNvSpPr txBox="1"/>
          <p:nvPr/>
        </p:nvSpPr>
        <p:spPr>
          <a:xfrm>
            <a:off x="484632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Ranked options with reasons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 rot="5400000">
            <a:off x="5952744" y="2395728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23" name="Flow card 5"/>
          <p:cNvSpPr/>
          <p:nvPr/>
        </p:nvSpPr>
        <p:spPr>
          <a:xfrm>
            <a:off x="612648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24" name="Flow num 5"/>
          <p:cNvSpPr txBox="1"/>
          <p:nvPr/>
        </p:nvSpPr>
        <p:spPr>
          <a:xfrm>
            <a:off x="626364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Flow head 5"/>
          <p:cNvSpPr txBox="1"/>
          <p:nvPr/>
        </p:nvSpPr>
        <p:spPr>
          <a:xfrm>
            <a:off x="626364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Decide</a:t>
            </a:r>
            <a:endParaRPr lang="en-US" sz="1500" dirty="0"/>
          </a:p>
        </p:txBody>
      </p:sp>
      <p:sp>
        <p:nvSpPr>
          <p:cNvPr id="26" name="Flow body 5"/>
          <p:cNvSpPr txBox="1"/>
          <p:nvPr/>
        </p:nvSpPr>
        <p:spPr>
          <a:xfrm>
            <a:off x="626364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Revive with 3 next steps, or archive with an epitaph</a:t>
            </a:r>
            <a:endParaRPr lang="en-US" sz="1200" dirty="0"/>
          </a:p>
        </p:txBody>
      </p:sp>
      <p:sp>
        <p:nvSpPr>
          <p:cNvPr id="27" name="Arrow 5"/>
          <p:cNvSpPr/>
          <p:nvPr/>
        </p:nvSpPr>
        <p:spPr>
          <a:xfrm rot="5400000">
            <a:off x="7370064" y="2395728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28" name="Flow card 6"/>
          <p:cNvSpPr/>
          <p:nvPr/>
        </p:nvSpPr>
        <p:spPr>
          <a:xfrm>
            <a:off x="7543800" y="1463040"/>
            <a:ext cx="1234440" cy="201168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Flow num 6"/>
          <p:cNvSpPr txBox="1"/>
          <p:nvPr/>
        </p:nvSpPr>
        <p:spPr>
          <a:xfrm>
            <a:off x="768096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Flow head 6"/>
          <p:cNvSpPr txBox="1"/>
          <p:nvPr/>
        </p:nvSpPr>
        <p:spPr>
          <a:xfrm>
            <a:off x="768096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Revisit</a:t>
            </a:r>
            <a:endParaRPr lang="en-US" sz="1500" dirty="0"/>
          </a:p>
        </p:txBody>
      </p:sp>
      <p:sp>
        <p:nvSpPr>
          <p:cNvPr id="31" name="Flow body 6"/>
          <p:cNvSpPr txBox="1"/>
          <p:nvPr/>
        </p:nvSpPr>
        <p:spPr>
          <a:xfrm>
            <a:off x="7680960" y="23957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Timeline updates and reminders</a:t>
            </a:r>
            <a:endParaRPr lang="en-US" sz="1200" dirty="0"/>
          </a:p>
        </p:txBody>
      </p:sp>
      <p:sp>
        <p:nvSpPr>
          <p:cNvPr id="32" name="Loop note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↺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Revisit loops back to Assess: a resting project can be re-evaluated any time, and its whole history stays on the timeline.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approach</a:t>
            </a:r>
            <a:endParaRPr lang="en-US" sz="3000" dirty="0"/>
          </a:p>
        </p:txBody>
      </p:sp>
      <p:sp>
        <p:nvSpPr>
          <p:cNvPr id="3" name="UX head 1"/>
          <p:cNvSpPr txBox="1"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Playful, not morbid</a:t>
            </a:r>
            <a:endParaRPr lang="en-US" sz="1500" dirty="0"/>
          </a:p>
        </p:txBody>
      </p:sp>
      <p:sp>
        <p:nvSpPr>
          <p:cNvPr id="4" name="UX body 1"/>
          <p:cNvSpPr txBox="1"/>
          <p:nvPr/>
        </p:nvSpPr>
        <p:spPr>
          <a:xfrm>
            <a:off x="457200" y="1481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light graveyard metaphor (tombstones, “Rest in peace”, “Resurrect”) on a calm dark UI with warm lantern accents.</a:t>
            </a:r>
            <a:endParaRPr lang="en-US" sz="1300" dirty="0"/>
          </a:p>
        </p:txBody>
      </p:sp>
      <p:sp>
        <p:nvSpPr>
          <p:cNvPr id="5" name="UX head 2"/>
          <p:cNvSpPr txBox="1"/>
          <p:nvPr/>
        </p:nvSpPr>
        <p:spPr>
          <a:xfrm>
            <a:off x="457200" y="2029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Logging takes under 2 minutes</a:t>
            </a:r>
            <a:endParaRPr lang="en-US" sz="1500" dirty="0"/>
          </a:p>
        </p:txBody>
      </p:sp>
      <p:sp>
        <p:nvSpPr>
          <p:cNvPr id="6" name="UX body 2"/>
          <p:cNvSpPr txBox="1"/>
          <p:nvPr/>
        </p:nvSpPr>
        <p:spPr>
          <a:xfrm>
            <a:off x="457200" y="23225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guided 3-step form with progress and autosave, so filling it in never feels like paperwork.</a:t>
            </a:r>
            <a:endParaRPr lang="en-US" sz="1300" dirty="0"/>
          </a:p>
        </p:txBody>
      </p:sp>
      <p:sp>
        <p:nvSpPr>
          <p:cNvPr id="7" name="UX head 3"/>
          <p:cNvSpPr txBox="1"/>
          <p:nvPr/>
        </p:nvSpPr>
        <p:spPr>
          <a:xfrm>
            <a:off x="457200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Status at a glance</a:t>
            </a:r>
            <a:endParaRPr lang="en-US" sz="1500" dirty="0"/>
          </a:p>
        </p:txBody>
      </p:sp>
      <p:sp>
        <p:nvSpPr>
          <p:cNvPr id="8" name="UX body 3"/>
          <p:cNvSpPr txBox="1"/>
          <p:nvPr/>
        </p:nvSpPr>
        <p:spPr>
          <a:xfrm>
            <a:off x="45720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Cards over tables, with four states: Resting · Haunting · Revived · R.I.P.</a:t>
            </a:r>
            <a:endParaRPr lang="en-US" sz="1300" dirty="0"/>
          </a:p>
        </p:txBody>
      </p:sp>
      <p:sp>
        <p:nvSpPr>
          <p:cNvPr id="9" name="UX head 4"/>
          <p:cNvSpPr txBox="1"/>
          <p:nvPr/>
        </p:nvSpPr>
        <p:spPr>
          <a:xfrm>
            <a:off x="457200" y="3712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Accessible everywhere</a:t>
            </a:r>
            <a:endParaRPr lang="en-US" sz="1500" dirty="0"/>
          </a:p>
        </p:txBody>
      </p:sp>
      <p:sp>
        <p:nvSpPr>
          <p:cNvPr id="10" name="UX body 4"/>
          <p:cNvSpPr txBox="1"/>
          <p:nvPr/>
        </p:nvSpPr>
        <p:spPr>
          <a:xfrm>
            <a:off x="457200" y="40050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Responsive down to mobile, keyboard-navigable, AA contrast, light/dark mode.</a:t>
            </a:r>
            <a:endParaRPr lang="en-US" sz="1300" dirty="0"/>
          </a:p>
        </p:txBody>
      </p:sp>
      <p:sp>
        <p:nvSpPr>
          <p:cNvPr id="11" name="Wireframe frame"/>
          <p:cNvSpPr/>
          <p:nvPr/>
        </p:nvSpPr>
        <p:spPr>
          <a:xfrm>
            <a:off x="4937760" y="1188720"/>
            <a:ext cx="374904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Wireframe label"/>
          <p:cNvSpPr txBox="1"/>
          <p:nvPr/>
        </p:nvSpPr>
        <p:spPr>
          <a:xfrm>
            <a:off x="512064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Archive screen (wireframe)</a:t>
            </a:r>
            <a:endParaRPr lang="en-US" sz="1100" dirty="0"/>
          </a:p>
        </p:txBody>
      </p:sp>
      <p:sp>
        <p:nvSpPr>
          <p:cNvPr id="13" name="WF search"/>
          <p:cNvSpPr/>
          <p:nvPr/>
        </p:nvSpPr>
        <p:spPr>
          <a:xfrm>
            <a:off x="5120640" y="164592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6181F"/>
          </a:solidFill>
          <a:ln w="9525">
            <a:solidFill>
              <a:srgbClr val="9AA0B4"/>
            </a:solidFill>
            <a:prstDash val="solid"/>
          </a:ln>
        </p:spPr>
      </p:sp>
      <p:sp>
        <p:nvSpPr>
          <p:cNvPr id="14" name="WF search text"/>
          <p:cNvSpPr txBox="1"/>
          <p:nvPr/>
        </p:nvSpPr>
        <p:spPr>
          <a:xfrm>
            <a:off x="5212080" y="1645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Search projects…</a:t>
            </a:r>
            <a:endParaRPr lang="en-US" sz="1000" dirty="0"/>
          </a:p>
        </p:txBody>
      </p:sp>
      <p:sp>
        <p:nvSpPr>
          <p:cNvPr id="15" name="WF button"/>
          <p:cNvSpPr/>
          <p:nvPr/>
        </p:nvSpPr>
        <p:spPr>
          <a:xfrm>
            <a:off x="7452360" y="164592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6" name="WF button text"/>
          <p:cNvSpPr txBox="1"/>
          <p:nvPr/>
        </p:nvSpPr>
        <p:spPr>
          <a:xfrm>
            <a:off x="7452360" y="1645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+ Bury</a:t>
            </a:r>
            <a:endParaRPr lang="en-US" sz="1000" dirty="0"/>
          </a:p>
        </p:txBody>
      </p:sp>
      <p:sp>
        <p:nvSpPr>
          <p:cNvPr id="17" name="WF tomb 1"/>
          <p:cNvSpPr/>
          <p:nvPr/>
        </p:nvSpPr>
        <p:spPr>
          <a:xfrm>
            <a:off x="5120640" y="2103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9AA0B4"/>
            </a:solidFill>
            <a:prstDash val="solid"/>
          </a:ln>
        </p:spPr>
      </p:sp>
      <p:pic>
        <p:nvPicPr>
          <p:cNvPr id="18" name="WF tomb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2240280"/>
            <a:ext cx="310896" cy="310896"/>
          </a:xfrm>
          <a:prstGeom prst="rect">
            <a:avLst/>
          </a:prstGeom>
        </p:spPr>
      </p:pic>
      <p:sp>
        <p:nvSpPr>
          <p:cNvPr id="19" name="WF status 1"/>
          <p:cNvSpPr txBox="1"/>
          <p:nvPr/>
        </p:nvSpPr>
        <p:spPr>
          <a:xfrm>
            <a:off x="5120640" y="2670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0B4"/>
                </a:solidFill>
              </a:rPr>
              <a:t>Resting</a:t>
            </a:r>
            <a:endParaRPr lang="en-US" sz="1000" dirty="0"/>
          </a:p>
        </p:txBody>
      </p:sp>
      <p:sp>
        <p:nvSpPr>
          <p:cNvPr id="20" name="WF tomb 2"/>
          <p:cNvSpPr/>
          <p:nvPr/>
        </p:nvSpPr>
        <p:spPr>
          <a:xfrm>
            <a:off x="6263640" y="2103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F2B544"/>
            </a:solidFill>
            <a:prstDash val="solid"/>
          </a:ln>
        </p:spPr>
      </p:sp>
      <p:pic>
        <p:nvPicPr>
          <p:cNvPr id="21" name="WF tomb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40280"/>
            <a:ext cx="310896" cy="310896"/>
          </a:xfrm>
          <a:prstGeom prst="rect">
            <a:avLst/>
          </a:prstGeom>
        </p:spPr>
      </p:pic>
      <p:sp>
        <p:nvSpPr>
          <p:cNvPr id="22" name="WF status 2"/>
          <p:cNvSpPr txBox="1"/>
          <p:nvPr/>
        </p:nvSpPr>
        <p:spPr>
          <a:xfrm>
            <a:off x="6263640" y="2670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544"/>
                </a:solidFill>
              </a:rPr>
              <a:t>Haunting</a:t>
            </a:r>
            <a:endParaRPr lang="en-US" sz="1000" dirty="0"/>
          </a:p>
        </p:txBody>
      </p:sp>
      <p:sp>
        <p:nvSpPr>
          <p:cNvPr id="23" name="WF tomb 3"/>
          <p:cNvSpPr/>
          <p:nvPr/>
        </p:nvSpPr>
        <p:spPr>
          <a:xfrm>
            <a:off x="7406640" y="2103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8CC084"/>
            </a:solidFill>
            <a:prstDash val="solid"/>
          </a:ln>
        </p:spPr>
      </p:sp>
      <p:pic>
        <p:nvPicPr>
          <p:cNvPr id="24" name="WF tomb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2240280"/>
            <a:ext cx="310896" cy="310896"/>
          </a:xfrm>
          <a:prstGeom prst="rect">
            <a:avLst/>
          </a:prstGeom>
        </p:spPr>
      </p:pic>
      <p:sp>
        <p:nvSpPr>
          <p:cNvPr id="25" name="WF status 3"/>
          <p:cNvSpPr txBox="1"/>
          <p:nvPr/>
        </p:nvSpPr>
        <p:spPr>
          <a:xfrm>
            <a:off x="7406640" y="2670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084"/>
                </a:solidFill>
              </a:rPr>
              <a:t>Revived</a:t>
            </a:r>
            <a:endParaRPr lang="en-US" sz="1000" dirty="0"/>
          </a:p>
        </p:txBody>
      </p:sp>
      <p:sp>
        <p:nvSpPr>
          <p:cNvPr id="26" name="WF tomb 4"/>
          <p:cNvSpPr/>
          <p:nvPr/>
        </p:nvSpPr>
        <p:spPr>
          <a:xfrm>
            <a:off x="5120640" y="3246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D88A8A"/>
            </a:solidFill>
            <a:prstDash val="solid"/>
          </a:ln>
        </p:spPr>
      </p:sp>
      <p:pic>
        <p:nvPicPr>
          <p:cNvPr id="27" name="WF tomb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383280"/>
            <a:ext cx="310896" cy="310896"/>
          </a:xfrm>
          <a:prstGeom prst="rect">
            <a:avLst/>
          </a:prstGeom>
        </p:spPr>
      </p:pic>
      <p:sp>
        <p:nvSpPr>
          <p:cNvPr id="28" name="WF status 4"/>
          <p:cNvSpPr txBox="1"/>
          <p:nvPr/>
        </p:nvSpPr>
        <p:spPr>
          <a:xfrm>
            <a:off x="512064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8A8A"/>
                </a:solidFill>
              </a:rPr>
              <a:t>R.I.P.</a:t>
            </a:r>
            <a:endParaRPr lang="en-US" sz="1000" dirty="0"/>
          </a:p>
        </p:txBody>
      </p:sp>
      <p:sp>
        <p:nvSpPr>
          <p:cNvPr id="29" name="WF tomb 5"/>
          <p:cNvSpPr/>
          <p:nvPr/>
        </p:nvSpPr>
        <p:spPr>
          <a:xfrm>
            <a:off x="6263640" y="3246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9AA0B4"/>
            </a:solidFill>
            <a:prstDash val="solid"/>
          </a:ln>
        </p:spPr>
      </p:sp>
      <p:pic>
        <p:nvPicPr>
          <p:cNvPr id="30" name="WF tomb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383280"/>
            <a:ext cx="310896" cy="310896"/>
          </a:xfrm>
          <a:prstGeom prst="rect">
            <a:avLst/>
          </a:prstGeom>
        </p:spPr>
      </p:pic>
      <p:sp>
        <p:nvSpPr>
          <p:cNvPr id="31" name="WF status 5"/>
          <p:cNvSpPr txBox="1"/>
          <p:nvPr/>
        </p:nvSpPr>
        <p:spPr>
          <a:xfrm>
            <a:off x="626364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0B4"/>
                </a:solidFill>
              </a:rPr>
              <a:t>Resting</a:t>
            </a:r>
            <a:endParaRPr lang="en-US" sz="1000" dirty="0"/>
          </a:p>
        </p:txBody>
      </p:sp>
      <p:sp>
        <p:nvSpPr>
          <p:cNvPr id="32" name="WF tomb 6"/>
          <p:cNvSpPr/>
          <p:nvPr/>
        </p:nvSpPr>
        <p:spPr>
          <a:xfrm>
            <a:off x="7406640" y="3246120"/>
            <a:ext cx="1005840" cy="1005840"/>
          </a:xfrm>
          <a:prstGeom prst="roundRect">
            <a:avLst>
              <a:gd name="adj" fmla="val 22727"/>
            </a:avLst>
          </a:prstGeom>
          <a:solidFill>
            <a:srgbClr val="16181F"/>
          </a:solidFill>
          <a:ln w="12700">
            <a:solidFill>
              <a:srgbClr val="8CC084"/>
            </a:solidFill>
            <a:prstDash val="solid"/>
          </a:ln>
        </p:spPr>
      </p:sp>
      <p:pic>
        <p:nvPicPr>
          <p:cNvPr id="33" name="WF tomb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3383280"/>
            <a:ext cx="310896" cy="310896"/>
          </a:xfrm>
          <a:prstGeom prst="rect">
            <a:avLst/>
          </a:prstGeom>
        </p:spPr>
      </p:pic>
      <p:sp>
        <p:nvSpPr>
          <p:cNvPr id="34" name="WF status 6"/>
          <p:cNvSpPr txBox="1"/>
          <p:nvPr/>
        </p:nvSpPr>
        <p:spPr>
          <a:xfrm>
            <a:off x="740664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C084"/>
                </a:solidFill>
              </a:rPr>
              <a:t>Revived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technology</a:t>
            </a:r>
            <a:endParaRPr lang="en-US" sz="3000" dirty="0"/>
          </a:p>
        </p:txBody>
      </p:sp>
      <p:sp>
        <p:nvSpPr>
          <p:cNvPr id="3" name="Chip 1"/>
          <p:cNvSpPr/>
          <p:nvPr/>
        </p:nvSpPr>
        <p:spPr>
          <a:xfrm>
            <a:off x="457200" y="1188720"/>
            <a:ext cx="2171700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4" name="Chip text 1"/>
          <p:cNvSpPr txBox="1"/>
          <p:nvPr/>
        </p:nvSpPr>
        <p:spPr>
          <a:xfrm>
            <a:off x="457200" y="1188720"/>
            <a:ext cx="2171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React + Vite + TypeScript</a:t>
            </a:r>
            <a:endParaRPr lang="en-US" sz="1200" dirty="0"/>
          </a:p>
        </p:txBody>
      </p:sp>
      <p:sp>
        <p:nvSpPr>
          <p:cNvPr id="5" name="Chip 2"/>
          <p:cNvSpPr/>
          <p:nvPr/>
        </p:nvSpPr>
        <p:spPr>
          <a:xfrm>
            <a:off x="2766060" y="1188720"/>
            <a:ext cx="1161288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6" name="Chip text 2"/>
          <p:cNvSpPr txBox="1"/>
          <p:nvPr/>
        </p:nvSpPr>
        <p:spPr>
          <a:xfrm>
            <a:off x="2766060" y="1188720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7" name="Chip 3"/>
          <p:cNvSpPr/>
          <p:nvPr/>
        </p:nvSpPr>
        <p:spPr>
          <a:xfrm>
            <a:off x="4064508" y="1188720"/>
            <a:ext cx="1938528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8" name="Chip text 3"/>
          <p:cNvSpPr txBox="1"/>
          <p:nvPr/>
        </p:nvSpPr>
        <p:spPr>
          <a:xfrm>
            <a:off x="4064508" y="11887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Zustand + localStorage</a:t>
            </a:r>
            <a:endParaRPr lang="en-US" sz="1200" dirty="0"/>
          </a:p>
        </p:txBody>
      </p:sp>
      <p:sp>
        <p:nvSpPr>
          <p:cNvPr id="9" name="Chip 4"/>
          <p:cNvSpPr/>
          <p:nvPr/>
        </p:nvSpPr>
        <p:spPr>
          <a:xfrm>
            <a:off x="6140196" y="1188720"/>
            <a:ext cx="1161288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10" name="Chip text 4"/>
          <p:cNvSpPr txBox="1"/>
          <p:nvPr/>
        </p:nvSpPr>
        <p:spPr>
          <a:xfrm>
            <a:off x="6140196" y="1188720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React Router</a:t>
            </a:r>
            <a:endParaRPr lang="en-US" sz="1200" dirty="0"/>
          </a:p>
        </p:txBody>
      </p:sp>
      <p:sp>
        <p:nvSpPr>
          <p:cNvPr id="11" name="Chip 5"/>
          <p:cNvSpPr/>
          <p:nvPr/>
        </p:nvSpPr>
        <p:spPr>
          <a:xfrm>
            <a:off x="457200" y="1645920"/>
            <a:ext cx="2793492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12" name="Chip text 5"/>
          <p:cNvSpPr txBox="1"/>
          <p:nvPr/>
        </p:nvSpPr>
        <p:spPr>
          <a:xfrm>
            <a:off x="457200" y="1645920"/>
            <a:ext cx="2793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GitHub REST API (public, no auth)</a:t>
            </a:r>
            <a:endParaRPr lang="en-US" sz="1200" dirty="0"/>
          </a:p>
        </p:txBody>
      </p:sp>
      <p:sp>
        <p:nvSpPr>
          <p:cNvPr id="13" name="Chip 6"/>
          <p:cNvSpPr/>
          <p:nvPr/>
        </p:nvSpPr>
        <p:spPr>
          <a:xfrm>
            <a:off x="3387852" y="1645920"/>
            <a:ext cx="1239012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14" name="Chip text 6"/>
          <p:cNvSpPr txBox="1"/>
          <p:nvPr/>
        </p:nvSpPr>
        <p:spPr>
          <a:xfrm>
            <a:off x="3387852" y="1645920"/>
            <a:ext cx="12390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Framer Motion</a:t>
            </a:r>
            <a:endParaRPr lang="en-US" sz="1200" dirty="0"/>
          </a:p>
        </p:txBody>
      </p:sp>
      <p:sp>
        <p:nvSpPr>
          <p:cNvPr id="15" name="Chip 7"/>
          <p:cNvSpPr/>
          <p:nvPr/>
        </p:nvSpPr>
        <p:spPr>
          <a:xfrm>
            <a:off x="4764024" y="1645920"/>
            <a:ext cx="1239012" cy="347472"/>
          </a:xfrm>
          <a:prstGeom prst="roundRect">
            <a:avLst>
              <a:gd name="adj" fmla="val 50000"/>
            </a:avLst>
          </a:prstGeom>
          <a:solidFill>
            <a:srgbClr val="222531"/>
          </a:solidFill>
          <a:ln w="9525">
            <a:solidFill>
              <a:srgbClr val="8CC084"/>
            </a:solidFill>
            <a:prstDash val="solid"/>
          </a:ln>
        </p:spPr>
      </p:sp>
      <p:sp>
        <p:nvSpPr>
          <p:cNvPr id="16" name="Chip text 7"/>
          <p:cNvSpPr txBox="1"/>
          <p:nvPr/>
        </p:nvSpPr>
        <p:spPr>
          <a:xfrm>
            <a:off x="4764024" y="1645920"/>
            <a:ext cx="12390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Vercel deploy</a:t>
            </a:r>
            <a:endParaRPr lang="en-US" sz="1200" dirty="0"/>
          </a:p>
        </p:txBody>
      </p:sp>
      <p:sp>
        <p:nvSpPr>
          <p:cNvPr id="17" name="Arch card 1"/>
          <p:cNvSpPr/>
          <p:nvPr/>
        </p:nvSpPr>
        <p:spPr>
          <a:xfrm>
            <a:off x="457200" y="2331720"/>
            <a:ext cx="18745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Arch head 1"/>
          <p:cNvSpPr txBox="1"/>
          <p:nvPr/>
        </p:nvSpPr>
        <p:spPr>
          <a:xfrm>
            <a:off x="5943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UI screens</a:t>
            </a:r>
            <a:endParaRPr lang="en-US" sz="1400" dirty="0"/>
          </a:p>
        </p:txBody>
      </p:sp>
      <p:sp>
        <p:nvSpPr>
          <p:cNvPr id="19" name="Arch body 1"/>
          <p:cNvSpPr txBox="1"/>
          <p:nvPr/>
        </p:nvSpPr>
        <p:spPr>
          <a:xfrm>
            <a:off x="59436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Archive · Profile · Autopsy · Advisor · Timeline</a:t>
            </a:r>
            <a:endParaRPr lang="en-US" sz="1200" dirty="0"/>
          </a:p>
        </p:txBody>
      </p:sp>
      <p:sp>
        <p:nvSpPr>
          <p:cNvPr id="20" name="Arch arrow 1"/>
          <p:cNvSpPr/>
          <p:nvPr/>
        </p:nvSpPr>
        <p:spPr>
          <a:xfrm rot="5400000">
            <a:off x="2340864" y="2834640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21" name="Arch card 2"/>
          <p:cNvSpPr/>
          <p:nvPr/>
        </p:nvSpPr>
        <p:spPr>
          <a:xfrm>
            <a:off x="2560320" y="2331720"/>
            <a:ext cx="18745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Arch head 2"/>
          <p:cNvSpPr txBox="1"/>
          <p:nvPr/>
        </p:nvSpPr>
        <p:spPr>
          <a:xfrm>
            <a:off x="26974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State store</a:t>
            </a:r>
            <a:endParaRPr lang="en-US" sz="1400" dirty="0"/>
          </a:p>
        </p:txBody>
      </p:sp>
      <p:sp>
        <p:nvSpPr>
          <p:cNvPr id="23" name="Arch body 2"/>
          <p:cNvSpPr txBox="1"/>
          <p:nvPr/>
        </p:nvSpPr>
        <p:spPr>
          <a:xfrm>
            <a:off x="269748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Zustand, persisted to localStorage</a:t>
            </a:r>
            <a:endParaRPr lang="en-US" sz="1200" dirty="0"/>
          </a:p>
        </p:txBody>
      </p:sp>
      <p:sp>
        <p:nvSpPr>
          <p:cNvPr id="24" name="Arch arrow 2"/>
          <p:cNvSpPr/>
          <p:nvPr/>
        </p:nvSpPr>
        <p:spPr>
          <a:xfrm rot="5400000">
            <a:off x="4443984" y="2834640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25" name="Arch card 3"/>
          <p:cNvSpPr/>
          <p:nvPr/>
        </p:nvSpPr>
        <p:spPr>
          <a:xfrm>
            <a:off x="4663440" y="233172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26" name="Arch head 3"/>
          <p:cNvSpPr txBox="1"/>
          <p:nvPr/>
        </p:nvSpPr>
        <p:spPr>
          <a:xfrm>
            <a:off x="48006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Revival engine</a:t>
            </a:r>
            <a:endParaRPr lang="en-US" sz="1400" dirty="0"/>
          </a:p>
        </p:txBody>
      </p:sp>
      <p:sp>
        <p:nvSpPr>
          <p:cNvPr id="27" name="Arch body 3"/>
          <p:cNvSpPr txBox="1"/>
          <p:nvPr/>
        </p:nvSpPr>
        <p:spPr>
          <a:xfrm>
            <a:off x="480060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Pure TypeScript module with config-driven rules</a:t>
            </a:r>
            <a:endParaRPr lang="en-US" sz="1200" dirty="0"/>
          </a:p>
        </p:txBody>
      </p:sp>
      <p:sp>
        <p:nvSpPr>
          <p:cNvPr id="28" name="Arch arrow 3"/>
          <p:cNvSpPr/>
          <p:nvPr/>
        </p:nvSpPr>
        <p:spPr>
          <a:xfrm rot="5400000">
            <a:off x="6547104" y="2834640"/>
            <a:ext cx="182880" cy="146304"/>
          </a:xfrm>
          <a:prstGeom prst="triangle">
            <a:avLst/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29" name="Arch card 4"/>
          <p:cNvSpPr/>
          <p:nvPr/>
        </p:nvSpPr>
        <p:spPr>
          <a:xfrm>
            <a:off x="6766560" y="2331720"/>
            <a:ext cx="18745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Arch head 4"/>
          <p:cNvSpPr txBox="1"/>
          <p:nvPr/>
        </p:nvSpPr>
        <p:spPr>
          <a:xfrm>
            <a:off x="69037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Adapters</a:t>
            </a:r>
            <a:endParaRPr lang="en-US" sz="1400" dirty="0"/>
          </a:p>
        </p:txBody>
      </p:sp>
      <p:sp>
        <p:nvSpPr>
          <p:cNvPr id="31" name="Arch body 4"/>
          <p:cNvSpPr txBox="1"/>
          <p:nvPr/>
        </p:nvSpPr>
        <p:spPr>
          <a:xfrm>
            <a:off x="690372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Storage · GitHub import</a:t>
            </a:r>
            <a:endParaRPr lang="en-US" sz="1200" dirty="0"/>
          </a:p>
        </p:txBody>
      </p:sp>
      <p:pic>
        <p:nvPicPr>
          <p:cNvPr id="32" name="Varia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67328"/>
            <a:ext cx="347472" cy="347472"/>
          </a:xfrm>
          <a:prstGeom prst="rect">
            <a:avLst/>
          </a:prstGeom>
        </p:spPr>
      </p:pic>
      <p:sp>
        <p:nvSpPr>
          <p:cNvPr id="33" name="Variant note"/>
          <p:cNvSpPr txBox="1"/>
          <p:nvPr/>
        </p:nvSpPr>
        <p:spPr>
          <a:xfrm>
            <a:off x="914400" y="36576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Ready for the Variant Factor: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rules, fields and statuses live in config, so the hour-6 twist means editing data, not rewriting screens.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Feasibility: a realistic 12-hour plan</a:t>
            </a:r>
            <a:endParaRPr lang="en-US" sz="3000" dirty="0"/>
          </a:p>
        </p:txBody>
      </p:sp>
      <p:sp>
        <p:nvSpPr>
          <p:cNvPr id="3" name="Hour 0"/>
          <p:cNvSpPr txBox="1"/>
          <p:nvPr/>
        </p:nvSpPr>
        <p:spPr>
          <a:xfrm>
            <a:off x="27432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0h</a:t>
            </a:r>
            <a:endParaRPr lang="en-US" sz="1000" dirty="0"/>
          </a:p>
        </p:txBody>
      </p:sp>
      <p:sp>
        <p:nvSpPr>
          <p:cNvPr id="4" name="Hour 2"/>
          <p:cNvSpPr txBox="1"/>
          <p:nvPr/>
        </p:nvSpPr>
        <p:spPr>
          <a:xfrm>
            <a:off x="112776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2h</a:t>
            </a:r>
            <a:endParaRPr lang="en-US" sz="1000" dirty="0"/>
          </a:p>
        </p:txBody>
      </p:sp>
      <p:sp>
        <p:nvSpPr>
          <p:cNvPr id="5" name="Hour 4"/>
          <p:cNvSpPr txBox="1"/>
          <p:nvPr/>
        </p:nvSpPr>
        <p:spPr>
          <a:xfrm>
            <a:off x="198120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4h</a:t>
            </a:r>
            <a:endParaRPr lang="en-US" sz="1000" dirty="0"/>
          </a:p>
        </p:txBody>
      </p:sp>
      <p:sp>
        <p:nvSpPr>
          <p:cNvPr id="6" name="Hour 6"/>
          <p:cNvSpPr txBox="1"/>
          <p:nvPr/>
        </p:nvSpPr>
        <p:spPr>
          <a:xfrm>
            <a:off x="283464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6h</a:t>
            </a:r>
            <a:endParaRPr lang="en-US" sz="1000" dirty="0"/>
          </a:p>
        </p:txBody>
      </p:sp>
      <p:sp>
        <p:nvSpPr>
          <p:cNvPr id="7" name="Hour 8"/>
          <p:cNvSpPr txBox="1"/>
          <p:nvPr/>
        </p:nvSpPr>
        <p:spPr>
          <a:xfrm>
            <a:off x="368808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8h</a:t>
            </a:r>
            <a:endParaRPr lang="en-US" sz="1000" dirty="0"/>
          </a:p>
        </p:txBody>
      </p:sp>
      <p:sp>
        <p:nvSpPr>
          <p:cNvPr id="8" name="Hour 10"/>
          <p:cNvSpPr txBox="1"/>
          <p:nvPr/>
        </p:nvSpPr>
        <p:spPr>
          <a:xfrm>
            <a:off x="454152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10h</a:t>
            </a:r>
            <a:endParaRPr lang="en-US" sz="1000" dirty="0"/>
          </a:p>
        </p:txBody>
      </p:sp>
      <p:sp>
        <p:nvSpPr>
          <p:cNvPr id="9" name="Hour 12"/>
          <p:cNvSpPr txBox="1"/>
          <p:nvPr/>
        </p:nvSpPr>
        <p:spPr>
          <a:xfrm>
            <a:off x="539496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12h</a:t>
            </a:r>
            <a:endParaRPr lang="en-US" sz="1000" dirty="0"/>
          </a:p>
        </p:txBody>
      </p:sp>
      <p:sp>
        <p:nvSpPr>
          <p:cNvPr id="10" name="Track 1"/>
          <p:cNvSpPr/>
          <p:nvPr/>
        </p:nvSpPr>
        <p:spPr>
          <a:xfrm>
            <a:off x="457200" y="146304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11" name="Bar 1"/>
          <p:cNvSpPr/>
          <p:nvPr/>
        </p:nvSpPr>
        <p:spPr>
          <a:xfrm>
            <a:off x="457200" y="1463040"/>
            <a:ext cx="426720" cy="384048"/>
          </a:xfrm>
          <a:prstGeom prst="roundRect">
            <a:avLst>
              <a:gd name="adj" fmla="val 19048"/>
            </a:avLst>
          </a:prstGeom>
          <a:solidFill>
            <a:srgbClr val="9AA0B4"/>
          </a:solidFill>
          <a:ln w="12700">
            <a:solidFill>
              <a:srgbClr val="9AA0B4"/>
            </a:solidFill>
            <a:prstDash val="solid"/>
          </a:ln>
        </p:spPr>
      </p:sp>
      <p:sp>
        <p:nvSpPr>
          <p:cNvPr id="12" name="Bar label 1"/>
          <p:cNvSpPr txBox="1"/>
          <p:nvPr/>
        </p:nvSpPr>
        <p:spPr>
          <a:xfrm>
            <a:off x="97536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Setup and design tokens</a:t>
            </a:r>
            <a:endParaRPr lang="en-US" sz="1200" dirty="0"/>
          </a:p>
        </p:txBody>
      </p:sp>
      <p:sp>
        <p:nvSpPr>
          <p:cNvPr id="13" name="Track 2"/>
          <p:cNvSpPr/>
          <p:nvPr/>
        </p:nvSpPr>
        <p:spPr>
          <a:xfrm>
            <a:off x="457200" y="196596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14" name="Bar 2"/>
          <p:cNvSpPr/>
          <p:nvPr/>
        </p:nvSpPr>
        <p:spPr>
          <a:xfrm>
            <a:off x="883920" y="196596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15" name="Bar label 2"/>
          <p:cNvSpPr txBox="1"/>
          <p:nvPr/>
        </p:nvSpPr>
        <p:spPr>
          <a:xfrm>
            <a:off x="225552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Archive, project form and profile</a:t>
            </a:r>
            <a:endParaRPr lang="en-US" sz="1200" dirty="0"/>
          </a:p>
        </p:txBody>
      </p:sp>
      <p:sp>
        <p:nvSpPr>
          <p:cNvPr id="16" name="Track 3"/>
          <p:cNvSpPr/>
          <p:nvPr/>
        </p:nvSpPr>
        <p:spPr>
          <a:xfrm>
            <a:off x="457200" y="246888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17" name="Bar 3"/>
          <p:cNvSpPr/>
          <p:nvPr/>
        </p:nvSpPr>
        <p:spPr>
          <a:xfrm>
            <a:off x="2164080" y="2468880"/>
            <a:ext cx="853440" cy="384048"/>
          </a:xfrm>
          <a:prstGeom prst="roundRect">
            <a:avLst>
              <a:gd name="adj" fmla="val 19048"/>
            </a:avLst>
          </a:prstGeom>
          <a:solidFill>
            <a:srgbClr val="8CC084"/>
          </a:solidFill>
          <a:ln w="12700">
            <a:solidFill>
              <a:srgbClr val="8CC084"/>
            </a:solidFill>
            <a:prstDash val="solid"/>
          </a:ln>
        </p:spPr>
      </p:sp>
      <p:sp>
        <p:nvSpPr>
          <p:cNvPr id="18" name="Bar label 3"/>
          <p:cNvSpPr txBox="1"/>
          <p:nvPr/>
        </p:nvSpPr>
        <p:spPr>
          <a:xfrm>
            <a:off x="3108960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Autopsy and Revival Advisor</a:t>
            </a:r>
            <a:endParaRPr lang="en-US" sz="1200" dirty="0"/>
          </a:p>
        </p:txBody>
      </p:sp>
      <p:sp>
        <p:nvSpPr>
          <p:cNvPr id="19" name="Track 4"/>
          <p:cNvSpPr/>
          <p:nvPr/>
        </p:nvSpPr>
        <p:spPr>
          <a:xfrm>
            <a:off x="457200" y="297180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20" name="Bar 4"/>
          <p:cNvSpPr/>
          <p:nvPr/>
        </p:nvSpPr>
        <p:spPr>
          <a:xfrm>
            <a:off x="3017520" y="2971800"/>
            <a:ext cx="853440" cy="384048"/>
          </a:xfrm>
          <a:prstGeom prst="roundRect">
            <a:avLst>
              <a:gd name="adj" fmla="val 19048"/>
            </a:avLst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1" name="Bar label 4"/>
          <p:cNvSpPr txBox="1"/>
          <p:nvPr/>
        </p:nvSpPr>
        <p:spPr>
          <a:xfrm>
            <a:off x="54864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Buffer for the surprise challenge</a:t>
            </a:r>
            <a:endParaRPr lang="en-US" sz="1200" dirty="0"/>
          </a:p>
        </p:txBody>
      </p:sp>
      <p:sp>
        <p:nvSpPr>
          <p:cNvPr id="22" name="Track 5"/>
          <p:cNvSpPr/>
          <p:nvPr/>
        </p:nvSpPr>
        <p:spPr>
          <a:xfrm>
            <a:off x="457200" y="347472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23" name="Bar 5"/>
          <p:cNvSpPr/>
          <p:nvPr/>
        </p:nvSpPr>
        <p:spPr>
          <a:xfrm>
            <a:off x="3870960" y="3474720"/>
            <a:ext cx="853440" cy="384048"/>
          </a:xfrm>
          <a:prstGeom prst="roundRect">
            <a:avLst>
              <a:gd name="adj" fmla="val 19048"/>
            </a:avLst>
          </a:prstGeom>
          <a:solidFill>
            <a:srgbClr val="7FA7D9"/>
          </a:solidFill>
          <a:ln w="12700">
            <a:solidFill>
              <a:srgbClr val="7FA7D9"/>
            </a:solidFill>
            <a:prstDash val="solid"/>
          </a:ln>
        </p:spPr>
      </p:sp>
      <p:sp>
        <p:nvSpPr>
          <p:cNvPr id="24" name="Bar label 5"/>
          <p:cNvSpPr txBox="1"/>
          <p:nvPr/>
        </p:nvSpPr>
        <p:spPr>
          <a:xfrm>
            <a:off x="548640" y="3474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Timeline, reminders, GitHub import</a:t>
            </a:r>
            <a:endParaRPr lang="en-US" sz="1200" dirty="0"/>
          </a:p>
        </p:txBody>
      </p:sp>
      <p:sp>
        <p:nvSpPr>
          <p:cNvPr id="25" name="Track 6"/>
          <p:cNvSpPr/>
          <p:nvPr/>
        </p:nvSpPr>
        <p:spPr>
          <a:xfrm>
            <a:off x="457200" y="397764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222531"/>
          </a:solidFill>
          <a:ln w="12700">
            <a:solidFill>
              <a:srgbClr val="222531"/>
            </a:solidFill>
            <a:prstDash val="solid"/>
          </a:ln>
        </p:spPr>
      </p:sp>
      <p:sp>
        <p:nvSpPr>
          <p:cNvPr id="26" name="Bar 6"/>
          <p:cNvSpPr/>
          <p:nvPr/>
        </p:nvSpPr>
        <p:spPr>
          <a:xfrm>
            <a:off x="4724400" y="3977640"/>
            <a:ext cx="853440" cy="384048"/>
          </a:xfrm>
          <a:prstGeom prst="roundRect">
            <a:avLst>
              <a:gd name="adj" fmla="val 19048"/>
            </a:avLst>
          </a:prstGeom>
          <a:solidFill>
            <a:srgbClr val="D88A8A"/>
          </a:solidFill>
          <a:ln w="12700">
            <a:solidFill>
              <a:srgbClr val="D88A8A"/>
            </a:solidFill>
            <a:prstDash val="solid"/>
          </a:ln>
        </p:spPr>
      </p:sp>
      <p:sp>
        <p:nvSpPr>
          <p:cNvPr id="27" name="Bar label 6"/>
          <p:cNvSpPr txBox="1"/>
          <p:nvPr/>
        </p:nvSpPr>
        <p:spPr>
          <a:xfrm>
            <a:off x="54864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Polish, responsive, test and deploy</a:t>
            </a:r>
            <a:endParaRPr lang="en-US" sz="1200" dirty="0"/>
          </a:p>
        </p:txBody>
      </p:sp>
      <p:sp>
        <p:nvSpPr>
          <p:cNvPr id="28" name="Scope card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MVP head"/>
          <p:cNvSpPr txBox="1"/>
          <p:nvPr/>
        </p:nvSpPr>
        <p:spPr>
          <a:xfrm>
            <a:off x="60350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Must-have (MVP)</a:t>
            </a:r>
            <a:endParaRPr lang="en-US" sz="1400" dirty="0"/>
          </a:p>
        </p:txBody>
      </p:sp>
      <p:sp>
        <p:nvSpPr>
          <p:cNvPr id="30" name="MVP list"/>
          <p:cNvSpPr txBox="1"/>
          <p:nvPr/>
        </p:nvSpPr>
        <p:spPr>
          <a:xfrm>
            <a:off x="6035040" y="164592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Archive and profiles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Autopsy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Revival Advisor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Timeline</a:t>
            </a:r>
            <a:endParaRPr lang="en-US" sz="1300" dirty="0"/>
          </a:p>
        </p:txBody>
      </p:sp>
      <p:sp>
        <p:nvSpPr>
          <p:cNvPr id="31" name="Stretch head"/>
          <p:cNvSpPr txBox="1"/>
          <p:nvPr/>
        </p:nvSpPr>
        <p:spPr>
          <a:xfrm>
            <a:off x="603504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Stretch</a:t>
            </a:r>
            <a:endParaRPr lang="en-US" sz="1400" dirty="0"/>
          </a:p>
        </p:txBody>
      </p:sp>
      <p:sp>
        <p:nvSpPr>
          <p:cNvPr id="32" name="Stretch list"/>
          <p:cNvSpPr txBox="1"/>
          <p:nvPr/>
        </p:nvSpPr>
        <p:spPr>
          <a:xfrm>
            <a:off x="603504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GitHub import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Salvage Yard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Revisit reminders</a:t>
            </a:r>
            <a:endParaRPr lang="en-US" sz="1300" dirty="0"/>
          </a:p>
        </p:txBody>
      </p:sp>
      <p:sp>
        <p:nvSpPr>
          <p:cNvPr id="33" name="No backend note"/>
          <p:cNvSpPr txBox="1"/>
          <p:nvPr/>
        </p:nvSpPr>
        <p:spPr>
          <a:xfrm>
            <a:off x="457200" y="4462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 backend needed. Everything runs in the browser.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85800"/>
            <a:ext cx="914400" cy="914400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731520" y="1783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abandoned project deserves a second look</a:t>
            </a:r>
            <a:endParaRPr lang="en-US" sz="3400" dirty="0"/>
          </a:p>
        </p:txBody>
      </p:sp>
      <p:sp>
        <p:nvSpPr>
          <p:cNvPr id="4" name="Closing body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Understand it, decide its fate, and give the good ideas another chance.</a:t>
            </a:r>
            <a:endParaRPr lang="en-US" sz="1800" dirty="0"/>
          </a:p>
        </p:txBody>
      </p:sp>
      <p:sp>
        <p:nvSpPr>
          <p:cNvPr id="5" name="Thanks"/>
          <p:cNvSpPr txBox="1"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Thank you  ·  Rajnish Kumar Verma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Graveyard">
  <a:themeElements>
    <a:clrScheme name="Project Graveyard">
      <a:dk1>
        <a:srgbClr val="16181F"/>
      </a:dk1>
      <a:lt1>
        <a:srgbClr val="FFFFFF"/>
      </a:lt1>
      <a:dk2>
        <a:srgbClr val="222531"/>
      </a:dk2>
      <a:lt2>
        <a:srgbClr val="EEEAE2"/>
      </a:lt2>
      <a:accent1>
        <a:srgbClr val="8CC084"/>
      </a:accent1>
      <a:accent2>
        <a:srgbClr val="F2B544"/>
      </a:accent2>
      <a:accent3>
        <a:srgbClr val="9AA0B4"/>
      </a:accent3>
      <a:accent4>
        <a:srgbClr val="D88A8A"/>
      </a:accent4>
      <a:accent5>
        <a:srgbClr val="7FA7D9"/>
      </a:accent5>
      <a:accent6>
        <a:srgbClr val="B59BD9"/>
      </a:accent6>
      <a:hlink>
        <a:srgbClr val="F2B544"/>
      </a:hlink>
      <a:folHlink>
        <a:srgbClr val="9AA0B4"/>
      </a:folHlink>
    </a:clrScheme>
    <a:fontScheme name="Project Gravey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Project Graveyard — Code Variant Build 01 (PS 05)</dc:title>
  <dc:subject>PptxGenJS Presentation</dc:subject>
  <dc:creator>Rajnish Kumar Verma</dc:creator>
  <cp:lastModifiedBy>Rajnish Kumar Verma</cp:lastModifiedBy>
  <cp:revision>1</cp:revision>
  <dcterms:created xsi:type="dcterms:W3CDTF">2026-10-15T11:07:38Z</dcterms:created>
  <dcterms:modified xsi:type="dcterms:W3CDTF">2026-10-15T11:07:38Z</dcterms:modified>
</cp:coreProperties>
</file>